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D1317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365760"/>
          </a:xfrm>
          <a:prstGeom prst="rect">
            <a:avLst/>
          </a:prstGeom>
          <a:solidFill>
            <a:srgbClr val="080C0F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0"/>
            <a:ext cx="9144000" cy="365760"/>
          </a:xfrm>
          <a:prstGeom prst="rect">
            <a:avLst/>
          </a:prstGeom>
          <a:solidFill>
            <a:srgbClr val="0D1317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97280"/>
            <a:ext cx="9144000" cy="365760"/>
          </a:xfrm>
          <a:prstGeom prst="rect">
            <a:avLst/>
          </a:prstGeom>
          <a:solidFill>
            <a:srgbClr val="080C0F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463040"/>
            <a:ext cx="9144000" cy="365760"/>
          </a:xfrm>
          <a:prstGeom prst="rect">
            <a:avLst/>
          </a:prstGeom>
          <a:solidFill>
            <a:srgbClr val="0D1317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9144000" cy="365760"/>
          </a:xfrm>
          <a:prstGeom prst="rect">
            <a:avLst/>
          </a:prstGeom>
          <a:solidFill>
            <a:srgbClr val="080C0F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194560"/>
            <a:ext cx="9144000" cy="365760"/>
          </a:xfrm>
          <a:prstGeom prst="rect">
            <a:avLst/>
          </a:prstGeom>
          <a:solidFill>
            <a:srgbClr val="0D1317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60320"/>
            <a:ext cx="9144000" cy="365760"/>
          </a:xfrm>
          <a:prstGeom prst="rect">
            <a:avLst/>
          </a:prstGeom>
          <a:solidFill>
            <a:srgbClr val="080C0F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solidFill>
            <a:srgbClr val="0D1317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solidFill>
            <a:srgbClr val="080C0F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657600"/>
            <a:ext cx="9144000" cy="365760"/>
          </a:xfrm>
          <a:prstGeom prst="rect">
            <a:avLst/>
          </a:prstGeom>
          <a:solidFill>
            <a:srgbClr val="0D1317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solidFill>
            <a:srgbClr val="080C0F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solidFill>
            <a:srgbClr val="0D1317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80C0F"/>
          </a:solidFill>
          <a:ln w="12700">
            <a:solidFill>
              <a:srgbClr val="080C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82880"/>
            <a:ext cx="4114800" cy="411480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640080"/>
            <a:ext cx="548640" cy="548640"/>
          </a:xfrm>
          <a:prstGeom prst="ellipse">
            <a:avLst/>
          </a:prstGeom>
          <a:solidFill>
            <a:srgbClr val="00E5CC">
              <a:alpha val="6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1097280"/>
            <a:ext cx="402336" cy="402336"/>
          </a:xfrm>
          <a:prstGeom prst="ellipse">
            <a:avLst/>
          </a:prstGeom>
          <a:solidFill>
            <a:srgbClr val="0099FF">
              <a:alpha val="60000"/>
            </a:srgbClr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828800"/>
            <a:ext cx="512064" cy="512064"/>
          </a:xfrm>
          <a:prstGeom prst="ellipse">
            <a:avLst/>
          </a:prstGeom>
          <a:solidFill>
            <a:srgbClr val="00D97E">
              <a:alpha val="60000"/>
            </a:srgbClr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645920"/>
            <a:ext cx="329184" cy="329184"/>
          </a:xfrm>
          <a:prstGeom prst="ellipse">
            <a:avLst/>
          </a:prstGeom>
          <a:solidFill>
            <a:srgbClr val="FFB800">
              <a:alpha val="6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194560"/>
            <a:ext cx="365760" cy="365760"/>
          </a:xfrm>
          <a:prstGeom prst="ellipse">
            <a:avLst/>
          </a:prstGeom>
          <a:solidFill>
            <a:srgbClr val="00E5CC">
              <a:alpha val="6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914400"/>
            <a:ext cx="1280160" cy="457200"/>
          </a:xfrm>
          <a:prstGeom prst="line">
            <a:avLst/>
          </a:prstGeom>
          <a:noFill/>
          <a:ln w="6350">
            <a:solidFill>
              <a:srgbClr val="00E5C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914400"/>
            <a:ext cx="731520" cy="1188720"/>
          </a:xfrm>
          <a:prstGeom prst="line">
            <a:avLst/>
          </a:prstGeom>
          <a:noFill/>
          <a:ln w="6350">
            <a:solidFill>
              <a:srgbClr val="00E5C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1298448"/>
            <a:ext cx="-548640" cy="731520"/>
          </a:xfrm>
          <a:prstGeom prst="line">
            <a:avLst/>
          </a:prstGeom>
          <a:noFill/>
          <a:ln w="6350">
            <a:solidFill>
              <a:srgbClr val="00E5C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5472" y="2084832"/>
            <a:ext cx="-1280160" cy="-182880"/>
          </a:xfrm>
          <a:prstGeom prst="line">
            <a:avLst/>
          </a:prstGeom>
          <a:noFill/>
          <a:ln w="6350">
            <a:solidFill>
              <a:srgbClr val="00E5C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2084832"/>
            <a:ext cx="1097280" cy="365760"/>
          </a:xfrm>
          <a:prstGeom prst="line">
            <a:avLst/>
          </a:prstGeom>
          <a:noFill/>
          <a:ln w="6350">
            <a:solidFill>
              <a:srgbClr val="00E5C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02920"/>
            <a:ext cx="1463040" cy="256032"/>
          </a:xfrm>
          <a:prstGeom prst="rect">
            <a:avLst/>
          </a:prstGeom>
          <a:solidFill>
            <a:srgbClr val="00E5CC">
              <a:alpha val="20000"/>
            </a:srgbClr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0E5CC"/>
                </a:solidFill>
              </a:rPr>
              <a:t>AGENT SWARMS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" y="914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</a:t>
            </a:r>
            <a:endParaRPr lang="en-US" sz="6400" dirty="0"/>
          </a:p>
        </p:txBody>
      </p:sp>
      <p:sp>
        <p:nvSpPr>
          <p:cNvPr id="30" name="Text 28"/>
          <p:cNvSpPr/>
          <p:nvPr/>
        </p:nvSpPr>
        <p:spPr>
          <a:xfrm>
            <a:off x="45720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</a:t>
            </a:r>
            <a:endParaRPr lang="en-US" sz="6400" dirty="0"/>
          </a:p>
        </p:txBody>
      </p:sp>
      <p:sp>
        <p:nvSpPr>
          <p:cNvPr id="31" name="Text 29"/>
          <p:cNvSpPr/>
          <p:nvPr/>
        </p:nvSpPr>
        <p:spPr>
          <a:xfrm>
            <a:off x="457200" y="2788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agents that collaborate, search, validate,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self-correct to answer any research question.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1317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773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</a:rPr>
              <a:t>Hackathon 2025  ·  Agent Swarms Theme  ·  Built with Groq + DuckDuckGo + FastAPI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answers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= one perspective. No cross-checking, no verification, no parallel research.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2918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validation, AI answers feel confident even when wrong. Users can't tell fact from fiction.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32918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517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self-correction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774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answer is poor, nothing catches it. There is no feedback loop, no quality gate.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single AI call isn't research — it's a guess.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swarm of 5 specialized AI agents that collaborate to produce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cited, self-corrected research answers.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914400" cy="91440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query into parallel subtasks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2057400"/>
            <a:ext cx="457200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920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CC"/>
                </a:solidFill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13432" y="1600200"/>
            <a:ext cx="914400" cy="914400"/>
          </a:xfrm>
          <a:prstGeom prst="ellipse">
            <a:avLst/>
          </a:prstGeom>
          <a:solidFill>
            <a:srgbClr val="0099FF">
              <a:alpha val="20000"/>
            </a:srgbClr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84832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3392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web simultaneously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73552" y="2057400"/>
            <a:ext cx="457200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920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CC"/>
                </a:solidFill>
              </a:rPr>
              <a:t>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32504" y="1600200"/>
            <a:ext cx="914400" cy="914400"/>
          </a:xfrm>
          <a:prstGeom prst="ellipse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03904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12464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Fact-checks key claims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92624" y="2057400"/>
            <a:ext cx="457200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12664" y="1920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CC"/>
                </a:solidFill>
              </a:rPr>
              <a:t>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51576" y="1600200"/>
            <a:ext cx="914400" cy="914400"/>
          </a:xfrm>
          <a:prstGeom prst="ellipse">
            <a:avLst/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51576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22976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31536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findings into answer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11696" y="2057400"/>
            <a:ext cx="457200" cy="0"/>
          </a:xfrm>
          <a:prstGeom prst="line">
            <a:avLst/>
          </a:prstGeom>
          <a:noFill/>
          <a:ln w="19050">
            <a:solidFill>
              <a:srgbClr val="00E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1920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CC"/>
                </a:solidFill>
              </a:rPr>
              <a:t>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70648" y="1600200"/>
            <a:ext cx="914400" cy="914400"/>
          </a:xfrm>
          <a:prstGeom prst="ellipse">
            <a:avLst/>
          </a:prstGeom>
          <a:solidFill>
            <a:srgbClr val="00E5CC">
              <a:alpha val="2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0648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42048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50608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&amp; triggers retry loop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3749040"/>
            <a:ext cx="-4114800" cy="0"/>
          </a:xfrm>
          <a:prstGeom prst="line">
            <a:avLst/>
          </a:prstGeom>
          <a:noFill/>
          <a:ln w="12700">
            <a:solidFill>
              <a:srgbClr val="FFB80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37160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Critic retry loop — self-corrects until quality threshold is met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0D1317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communicate only through a message bus — fully decoupled, modular, and extensible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303520" cy="475488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4864" cy="47548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96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live agent visualization + SSE stream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5303520" cy="475488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17904"/>
            <a:ext cx="54864" cy="475488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465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SSE streaming endpoint /research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5303520" cy="475488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75688"/>
            <a:ext cx="54864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12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Runner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3042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swarm.py — orchestrates agent lifecycle + retry loop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5303520" cy="475488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33472"/>
            <a:ext cx="54864" cy="47548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70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8620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 — asyncio.Queue per 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191256"/>
            <a:ext cx="5303520" cy="475488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91256"/>
            <a:ext cx="54864" cy="475488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27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(×5)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4198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· Retriever · Validator · Synthesizer · Critic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5303520" cy="475488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49040"/>
            <a:ext cx="54864" cy="47548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85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9776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search — no API key required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306824"/>
            <a:ext cx="5303520" cy="475488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306824"/>
            <a:ext cx="54864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43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45354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llama-3.3-70b-versatile (free tier)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960120"/>
            <a:ext cx="2834640" cy="39319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960120"/>
            <a:ext cx="283464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asyncio.gather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16824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subtask execution — retrievers run simultaneously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121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bus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23408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never import each other — fully decoupled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27797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 loop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drives up to 2 re-synthesis cycles automatically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4381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streaming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receives live events — no polling needed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80760" y="4096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 mode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SEARCH_MOCK=1 for offline testing during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069848"/>
            <a:ext cx="384048" cy="384048"/>
          </a:xfrm>
          <a:prstGeom prst="ellipse">
            <a:avLst/>
          </a:prstGeom>
          <a:solidFill>
            <a:srgbClr val="A78BFA">
              <a:alpha val="3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Planner — Decompose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arrives. Planner sends it to Groq: "Break this into 2-4 parallel subtasks." Returns structured JSON with task assignments.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20624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2395728"/>
            <a:ext cx="384048" cy="384048"/>
          </a:xfrm>
          <a:prstGeom prst="ellipse">
            <a:avLst/>
          </a:prstGeom>
          <a:solidFill>
            <a:srgbClr val="0099FF">
              <a:alpha val="30000"/>
            </a:srgbClr>
          </a:solidFill>
          <a:ln w="6350">
            <a:solidFill>
              <a:srgbClr val="009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Retriever — Retrieve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subtask: ask LLM what to search for → run DuckDuckGo searches in parallel via asyncio.gather → LLM synthesises findings into structured JSON.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20624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721608"/>
            <a:ext cx="384048" cy="384048"/>
          </a:xfrm>
          <a:prstGeom prst="ellipse">
            <a:avLst/>
          </a:prstGeom>
          <a:solidFill>
            <a:srgbClr val="FFB800">
              <a:alpha val="3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Validator — Validate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top 6 key facts from all retrievers. Runs fresh searches to cross-check each claim. Returns trust_score (0-1) and per-claim verdicts.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56048" y="1069848"/>
            <a:ext cx="384048" cy="384048"/>
          </a:xfrm>
          <a:prstGeom prst="ellipse">
            <a:avLst/>
          </a:prstGeom>
          <a:solidFill>
            <a:srgbClr val="F472B6">
              <a:alpha val="30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Synthesizer — Synthesize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1371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all findings + validation report. Writes a coherent, cited answer. Outputs word count, confidence score, and caveats.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2395728"/>
            <a:ext cx="384048" cy="384048"/>
          </a:xfrm>
          <a:prstGeom prst="ellipse">
            <a:avLst/>
          </a:prstGeom>
          <a:solidFill>
            <a:srgbClr val="00E5CC">
              <a:alpha val="30000"/>
            </a:srgbClr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06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Critic — Critique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697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answer (0-1). If score ≥ 0.65 → approve. If 0.4-0.64 → retry with specific instructions. If &lt; 0.4 → reject. Max 2 retries.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252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750 tokens/sec · OpenAI-compatible API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148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252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DuckDuckGo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527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ddgs library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key · No rate limits · Works on any machine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11480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86000"/>
            <a:ext cx="4114800" cy="54864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push live status to browser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4114800" cy="54864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ENGINE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 · Non-blocking I/O · Zero extra deps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411480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611880"/>
            <a:ext cx="41148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03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3904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HTML/JS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4178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389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node graph · Packet animations · Zero build step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611880"/>
            <a:ext cx="41148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703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3904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built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92040" y="4178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 pattern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4389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· Extensible · Each agent is independently testable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071A20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Compare LangGraph, CrewAI and AutoGen — features, use cases and limitations in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847088"/>
            <a:ext cx="365760" cy="365760"/>
          </a:xfrm>
          <a:prstGeom prst="ellipse">
            <a:avLst/>
          </a:prstGeom>
          <a:solidFill>
            <a:srgbClr val="00E5CC">
              <a:alpha val="20000"/>
            </a:srgbClr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fires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</a:rPr>
              <a:t>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query into 3 subtasks — one per framework. All parallel, no dependencies.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365760" cy="365760"/>
          </a:xfrm>
          <a:prstGeom prst="ellipse">
            <a:avLst/>
          </a:prstGeom>
          <a:solidFill>
            <a:srgbClr val="00E5CC">
              <a:alpha val="20000"/>
            </a:srgbClr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441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 light 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4414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searches run simultaneously — DuckDuckGo fetches real-time web results.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365760" cy="365760"/>
          </a:xfrm>
          <a:prstGeom prst="ellipse">
            <a:avLst/>
          </a:prstGeom>
          <a:solidFill>
            <a:srgbClr val="00E5CC">
              <a:alpha val="20000"/>
            </a:srgbClr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054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cross-checks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0540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verified with fresh searches. Trust score calculated.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85032"/>
            <a:ext cx="365760" cy="365760"/>
          </a:xfrm>
          <a:prstGeom prst="ellipse">
            <a:avLst/>
          </a:prstGeom>
          <a:solidFill>
            <a:srgbClr val="00E5CC">
              <a:alpha val="20000"/>
            </a:srgbClr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✍️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666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synthesized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66674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cited comparison of all 3 frameworks — merged from parallel findings.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00E5CC">
              <a:alpha val="20000"/>
            </a:srgbClr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approves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42793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0.65 → answer delivered. If not → retry with specific fix instructions.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It Unique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2344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51560"/>
            <a:ext cx="475488" cy="475488"/>
          </a:xfrm>
          <a:prstGeom prst="ellipse">
            <a:avLst/>
          </a:prstGeom>
          <a:solidFill>
            <a:srgbClr val="FFB800">
              <a:alpha val="2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024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critic loop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doesn't just score — it writes specific retry instructions. The Synthesizer reads them and improves. This is closed-loop quality control.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2344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51560"/>
            <a:ext cx="475488" cy="475488"/>
          </a:xfrm>
          <a:prstGeom prst="ellipse">
            <a:avLst/>
          </a:prstGeom>
          <a:solidFill>
            <a:srgbClr val="00E5CC">
              <a:alpha val="25000"/>
            </a:srgbClr>
          </a:solidFill>
          <a:ln w="6350">
            <a:solidFill>
              <a:srgbClr val="00E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04688" y="1024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async parallelism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 runs all retriever subtasks simultaneously. A 3-subtask query takes the same time as 1. Speed scales with task count.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114800" cy="12344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423160"/>
            <a:ext cx="475488" cy="475488"/>
          </a:xfrm>
          <a:prstGeom prst="ellipse">
            <a:avLst/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decoupled agents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imports another. They communicate only through a message bus. You can swap, add, or remove any agent without touching the others.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4114800" cy="12344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423160"/>
            <a:ext cx="475488" cy="475488"/>
          </a:xfrm>
          <a:prstGeom prst="ellipse">
            <a:avLst/>
          </a:prstGeom>
          <a:solidFill>
            <a:srgbClr val="0099FF">
              <a:alpha val="25000"/>
            </a:srgbClr>
          </a:solidFill>
          <a:ln w="6350">
            <a:solidFill>
              <a:srgbClr val="009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04688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834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pushes every agent state change to the browser instantly. Judges watch the swarm think in real time — not a progress spinner.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4114800" cy="12344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794760"/>
            <a:ext cx="475488" cy="475488"/>
          </a:xfrm>
          <a:prstGeom prst="ellipse">
            <a:avLst/>
          </a:prstGeom>
          <a:solidFill>
            <a:srgbClr val="00D97E">
              <a:alpha val="25000"/>
            </a:srgbClr>
          </a:solidFill>
          <a:ln w="6350">
            <a:solidFill>
              <a:srgbClr val="00D9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5568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dependencies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206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tier + DuckDuckGo (no key). The entire system runs without a credit card. Deployable by anyone, anywhere.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4114800" cy="123444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794760"/>
            <a:ext cx="475488" cy="475488"/>
          </a:xfrm>
          <a:prstGeom prst="ellipse">
            <a:avLst/>
          </a:prstGeom>
          <a:solidFill>
            <a:srgbClr val="FF6B6B">
              <a:alpha val="25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04688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testable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206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can be tested in isolation with a 10-line script. The base class handles all orchestration boilerplate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914400"/>
            <a:ext cx="5486400" cy="3657600"/>
          </a:xfrm>
          <a:prstGeom prst="ellipse">
            <a:avLst/>
          </a:prstGeom>
          <a:solidFill>
            <a:srgbClr val="00E5CC">
              <a:alpha val="5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Swarm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· 1 answer · 0 hallucinations slipping through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737360" cy="128016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1737360" cy="128016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∞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1737360" cy="128016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Critic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2377440"/>
            <a:ext cx="1737360" cy="1280160"/>
          </a:xfrm>
          <a:prstGeom prst="rect">
            <a:avLst/>
          </a:prstGeom>
          <a:solidFill>
            <a:srgbClr val="111820"/>
          </a:solidFill>
          <a:ln w="6350">
            <a:solidFill>
              <a:srgbClr val="1A23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·  Groq (llama-3.3-70b)  ·  DuckDuckGo Search  ·  FastAPI  ·  Python asyncio  ·  Vanilla JS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572000"/>
            <a:ext cx="9144000" cy="566928"/>
          </a:xfrm>
          <a:prstGeom prst="rect">
            <a:avLst/>
          </a:prstGeom>
          <a:solidFill>
            <a:srgbClr val="0D1317"/>
          </a:solidFill>
          <a:ln w="6350">
            <a:solidFill>
              <a:srgbClr val="1A23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2025  ·  Agent Swarms Theme  ·  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Swarm — Hackathon Submission</dc:title>
  <dc:subject>PptxGenJS Presentation</dc:subject>
  <dc:creator>PptxGenJS</dc:creator>
  <cp:lastModifiedBy>PptxGenJS</cp:lastModifiedBy>
  <cp:revision>1</cp:revision>
  <dcterms:created xsi:type="dcterms:W3CDTF">2026-05-16T16:26:38Z</dcterms:created>
  <dcterms:modified xsi:type="dcterms:W3CDTF">2026-05-16T16:26:38Z</dcterms:modified>
</cp:coreProperties>
</file>